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embeddedFontLst>
    <p:embeddedFont>
      <p:font typeface="Hammersmith One"/>
      <p:regular r:id="rId7"/>
    </p:embeddedFont>
    <p:embeddedFont>
      <p:font typeface="Roboto"/>
      <p:regular r:id="rId8"/>
      <p:bold r:id="rId9"/>
      <p:italic r:id="rId10"/>
      <p:boldItalic r:id="rId11"/>
    </p:embeddedFont>
    <p:embeddedFont>
      <p:font typeface="Ultra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075B08-88E1-4199-B277-9EDD2102D1A3}">
  <a:tblStyle styleId="{BD075B08-88E1-4199-B277-9EDD2102D1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05595C0-988E-4373-B89E-43CD80CEB8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2" Type="http://schemas.openxmlformats.org/officeDocument/2006/relationships/font" Target="fonts/Ultra-regular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ammersmithOne-regular.fntdata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800100" lvl="0" marL="4572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3100" lvl="0" marL="4572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3100" lvl="0" marL="4572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09600" lvl="0" marL="4572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800100" lvl="0" marL="4572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800100" lvl="0" marL="457200" algn="ctr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800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Char char="●"/>
              <a:defRPr sz="9000">
                <a:solidFill>
                  <a:schemeClr val="dk2"/>
                </a:solidFill>
              </a:defRPr>
            </a:lvl1pPr>
            <a:lvl2pPr indent="-673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2pPr>
            <a:lvl3pPr indent="-673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3pPr>
            <a:lvl4pPr indent="-673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4pPr>
            <a:lvl5pPr indent="-673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5pPr>
            <a:lvl6pPr indent="-673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6pPr>
            <a:lvl7pPr indent="-673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7pPr>
            <a:lvl8pPr indent="-673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8pPr>
            <a:lvl9pPr indent="-673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hyperlink" Target="https://www.kinit.sk" TargetMode="External"/><Relationship Id="rId8" Type="http://schemas.openxmlformats.org/officeDocument/2006/relationships/hyperlink" Target="https://www.kinit.s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992425" y="19857950"/>
            <a:ext cx="1286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Hammersmith One"/>
              <a:buChar char="●"/>
            </a:pPr>
            <a:r>
              <a:rPr lang="en" sz="3200">
                <a:latin typeface="Hammersmith One"/>
                <a:ea typeface="Hammersmith One"/>
                <a:cs typeface="Hammersmith One"/>
                <a:sym typeface="Hammersmith One"/>
              </a:rPr>
              <a:t>Additional text</a:t>
            </a:r>
            <a:endParaRPr sz="32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505975" y="32944300"/>
            <a:ext cx="1275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3200">
                <a:solidFill>
                  <a:srgbClr val="B2123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Text …</a:t>
            </a:r>
            <a:endParaRPr sz="32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409700" y="885750"/>
            <a:ext cx="21164400" cy="538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Ivan Vykopal1,2, Matúš Pikuliak1, Ivan Srba1, Robert Moro1, Dominik Macko1, Maria Bielikova1</a:t>
            </a:r>
            <a:endParaRPr sz="18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016260" y="495449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2725" l="0" r="0" t="0"/>
          <a:stretch/>
        </p:blipFill>
        <p:spPr>
          <a:xfrm>
            <a:off x="19769675" y="3520750"/>
            <a:ext cx="3242724" cy="37404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409702" y="6297150"/>
            <a:ext cx="8343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000" u="none" cap="none" strike="noStrike">
                <a:solidFill>
                  <a:srgbClr val="FAB118"/>
                </a:solidFill>
                <a:latin typeface="Ultra"/>
                <a:ea typeface="Ultra"/>
                <a:cs typeface="Ultra"/>
                <a:sym typeface="Ultra"/>
              </a:rPr>
              <a:t>“</a:t>
            </a:r>
            <a:endParaRPr b="0" i="0" sz="9000" u="none" cap="none" strike="noStrike">
              <a:solidFill>
                <a:srgbClr val="FAB118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20019" l="19163" r="17821" t="20841"/>
          <a:stretch/>
        </p:blipFill>
        <p:spPr>
          <a:xfrm>
            <a:off x="23258800" y="885750"/>
            <a:ext cx="4457406" cy="26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408050" y="10665675"/>
            <a:ext cx="12808500" cy="910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Subtitle 1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016250" y="10378275"/>
            <a:ext cx="412500" cy="2874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8800" y="4100025"/>
            <a:ext cx="5628201" cy="18082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1480575" y="31877325"/>
            <a:ext cx="12808500" cy="94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Subtitle 2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064435" y="31477949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5994825" y="18674675"/>
            <a:ext cx="12868800" cy="94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Subtitle 3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15608797" y="21532412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5997511" y="32957950"/>
            <a:ext cx="12868800" cy="94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595358" y="32567662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6007861" y="21922688"/>
            <a:ext cx="12868800" cy="94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Subtitle 4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5986125" y="33888213"/>
            <a:ext cx="1286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Hammersmith One"/>
              <a:buChar char="●"/>
            </a:pPr>
            <a:r>
              <a:rPr lang="en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Conclusion text ….</a:t>
            </a:r>
            <a:endParaRPr sz="320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5595339" y="18284387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6058500" y="8248650"/>
            <a:ext cx="128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1887231"/>
            <a:ext cx="30324301" cy="53304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2279525" y="4238625"/>
            <a:ext cx="17490000" cy="9105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Author1</a:t>
            </a:r>
            <a:r>
              <a:rPr b="1" baseline="30000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1,2</a:t>
            </a:r>
            <a:r>
              <a:rPr b="1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, Author</a:t>
            </a:r>
            <a:r>
              <a:rPr b="1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baseline="30000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, …, AuthorN</a:t>
            </a:r>
            <a:r>
              <a:rPr b="1" baseline="30000" lang="en" sz="31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baseline="30000" sz="3100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279525" y="5235875"/>
            <a:ext cx="1500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1 Kempelen Institute of Intelligent Technologies, Bratislava, Slovakia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2 Faculty of Information Technology, Brno University of Technology, Brno, Czechia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16007850" y="30401475"/>
            <a:ext cx="1287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Figure 3: Figure title</a:t>
            </a:r>
            <a:endParaRPr sz="260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554625" y="1258850"/>
            <a:ext cx="18257400" cy="3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90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Long Title</a:t>
            </a:r>
            <a:endParaRPr b="1" sz="90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480575" y="7060200"/>
            <a:ext cx="12808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ammersmith One"/>
                <a:ea typeface="Hammersmith One"/>
                <a:cs typeface="Hammersmith One"/>
                <a:sym typeface="Hammersmith One"/>
              </a:rPr>
              <a:t>Why? </a:t>
            </a:r>
            <a:r>
              <a:rPr lang="en" sz="3200">
                <a:latin typeface="Hammersmith One"/>
                <a:ea typeface="Hammersmith One"/>
                <a:cs typeface="Hammersmith One"/>
                <a:sym typeface="Hammersmith One"/>
              </a:rPr>
              <a:t>Short Motivation behind the research</a:t>
            </a:r>
            <a:endParaRPr sz="32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ammersmith One"/>
                <a:ea typeface="Hammersmith One"/>
                <a:cs typeface="Hammersmith One"/>
                <a:sym typeface="Hammersmith One"/>
              </a:rPr>
              <a:t>Results.</a:t>
            </a:r>
            <a:r>
              <a:rPr lang="en" sz="3200"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lang="en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TLDR…</a:t>
            </a:r>
            <a:endParaRPr sz="320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aphicFrame>
        <p:nvGraphicFramePr>
          <p:cNvPr id="80" name="Google Shape;80;p13"/>
          <p:cNvGraphicFramePr/>
          <p:nvPr/>
        </p:nvGraphicFramePr>
        <p:xfrm>
          <a:off x="17851013" y="4003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{BD075B08-88E1-4199-B277-9EDD2102D1A3}</a:tableStyleId>
              </a:tblPr>
              <a:tblGrid>
                <a:gridCol w="786600"/>
                <a:gridCol w="382850"/>
                <a:gridCol w="7509400"/>
              </a:tblGrid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R cap="flat" cmpd="sng" w="19050">
                      <a:solidFill>
                        <a:srgbClr val="FFA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A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AC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Name Surname</a:t>
                      </a:r>
                      <a:r>
                        <a:rPr lang="en" sz="2800">
                          <a:solidFill>
                            <a:srgbClr val="FFAC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 </a:t>
                      </a:r>
                      <a:r>
                        <a:rPr lang="en" sz="2800">
                          <a:solidFill>
                            <a:srgbClr val="1E101C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| Research Assistant</a:t>
                      </a:r>
                      <a:endParaRPr sz="2800">
                        <a:solidFill>
                          <a:srgbClr val="1E101C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rgbClr val="1E101C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Kempelen Institute of Intelligent Technologies</a:t>
                      </a:r>
                      <a:endParaRPr sz="2600">
                        <a:solidFill>
                          <a:srgbClr val="1E101C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rgbClr val="1E101C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name.surname@kinit.sk |</a:t>
                      </a:r>
                      <a:r>
                        <a:rPr lang="en" sz="2600">
                          <a:solidFill>
                            <a:srgbClr val="1E101C"/>
                          </a:solidFill>
                          <a:uFill>
                            <a:noFill/>
                          </a:uFill>
                          <a:latin typeface="Hammersmith One"/>
                          <a:ea typeface="Hammersmith One"/>
                          <a:cs typeface="Hammersmith One"/>
                          <a:sym typeface="Hammersmith One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2600" u="sng">
                          <a:solidFill>
                            <a:schemeClr val="hlink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  <a:hlinkClick r:id="rId8"/>
                        </a:rPr>
                        <a:t>www.kinit.sk</a:t>
                      </a:r>
                      <a:endParaRPr sz="2600" u="sng">
                        <a:solidFill>
                          <a:schemeClr val="hlink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1" name="Google Shape;8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646850" y="40036200"/>
            <a:ext cx="1569919" cy="15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16018200" y="38822850"/>
            <a:ext cx="12868800" cy="94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4500">
                <a:solidFill>
                  <a:srgbClr val="3A2222"/>
                </a:solidFill>
                <a:latin typeface="Roboto"/>
                <a:ea typeface="Roboto"/>
                <a:cs typeface="Roboto"/>
                <a:sym typeface="Roboto"/>
              </a:rPr>
              <a:t>Let’s Stay in Touch!</a:t>
            </a:r>
            <a:endParaRPr b="1" sz="4500">
              <a:solidFill>
                <a:srgbClr val="3A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5608800" y="38432550"/>
            <a:ext cx="412500" cy="390300"/>
          </a:xfrm>
          <a:prstGeom prst="rect">
            <a:avLst/>
          </a:prstGeom>
          <a:solidFill>
            <a:srgbClr val="B21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6087325" y="23261200"/>
            <a:ext cx="12755400" cy="698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Figure X</a:t>
            </a:r>
            <a:endParaRPr sz="5000"/>
          </a:p>
        </p:txBody>
      </p:sp>
      <p:sp>
        <p:nvSpPr>
          <p:cNvPr id="85" name="Google Shape;85;p13"/>
          <p:cNvSpPr/>
          <p:nvPr/>
        </p:nvSpPr>
        <p:spPr>
          <a:xfrm>
            <a:off x="16131750" y="7461405"/>
            <a:ext cx="12755400" cy="96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Figure X</a:t>
            </a:r>
            <a:endParaRPr sz="5000"/>
          </a:p>
        </p:txBody>
      </p:sp>
      <p:sp>
        <p:nvSpPr>
          <p:cNvPr id="86" name="Google Shape;86;p13"/>
          <p:cNvSpPr txBox="1"/>
          <p:nvPr/>
        </p:nvSpPr>
        <p:spPr>
          <a:xfrm>
            <a:off x="16046325" y="17354075"/>
            <a:ext cx="12808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Figure 2: Caption</a:t>
            </a:r>
            <a:endParaRPr i="1" sz="260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aphicFrame>
        <p:nvGraphicFramePr>
          <p:cNvPr id="87" name="Google Shape;87;p13"/>
          <p:cNvGraphicFramePr/>
          <p:nvPr/>
        </p:nvGraphicFramePr>
        <p:xfrm>
          <a:off x="1408050" y="150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{305595C0-988E-4373-B89E-43CD80CEB882}</a:tableStyleId>
              </a:tblPr>
              <a:tblGrid>
                <a:gridCol w="4113200"/>
                <a:gridCol w="2291050"/>
                <a:gridCol w="3202125"/>
                <a:gridCol w="3202125"/>
              </a:tblGrid>
              <a:tr h="6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lt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Model</a:t>
                      </a:r>
                      <a:endParaRPr b="1" sz="3000">
                        <a:solidFill>
                          <a:schemeClr val="lt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12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lt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Size</a:t>
                      </a:r>
                      <a:endParaRPr b="1" sz="3000">
                        <a:solidFill>
                          <a:schemeClr val="lt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12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lt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Model Creator</a:t>
                      </a:r>
                      <a:endParaRPr b="1" sz="3000">
                        <a:solidFill>
                          <a:schemeClr val="lt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12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lt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Cut-off</a:t>
                      </a:r>
                      <a:endParaRPr b="1" sz="3000">
                        <a:solidFill>
                          <a:schemeClr val="lt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123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GPT-3 Babbage v1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1.3B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OpenAI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Oct 2019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GPT-3 Curie v1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6.7B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OpenAI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Oct 2019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GPT-3 Davinci v3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175B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OpenAI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Jun 2021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GPT-3.5 (vs 0613)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UNK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OpenAI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Sep 2021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OPT-IML-Max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30B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Meta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Unknown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Falcon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40B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TII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Feb 2023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Vicuna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33B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LMSYS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Unknown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GPT-4 (vs 0613)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UNK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OpenAI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Sep 2021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Llama-2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70B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Meta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Jan 2023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8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Mistral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7B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Mistral AI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Unknown</a:t>
                      </a:r>
                      <a:endParaRPr sz="2600"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